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DEB"/>
                </a:solidFill>
                <a:latin typeface="Microsoft YaHei"/>
              </a:defRPr>
            </a:pPr>
            <a:r>
              <a:t>第一章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Microsoft YaHei"/>
              </a:defRPr>
            </a:pPr>
            <a:r>
              <a:t>从函数到神经网络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Microsoft YaHei"/>
              </a:defRPr>
            </a:pPr>
            <a:r>
              <a:t>让电脑认出猫的完整旅程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49039"/>
            <a:ext cx="22860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从 y=wx+b 出发，经过8个因果转折，搭建出一个能识别猫的深度神经网络。</a:t>
            </a:r>
            <a:br/>
            <a:r>
              <a:t>每一步都是对前一步困境的回应。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1A"/>
                </a:solidFill>
                <a:latin typeface="Microsoft YaHei"/>
              </a:defRPr>
            </a:pPr>
            <a:r>
              <a:t>怎样让电脑认出猫？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3108960" cy="27432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3E2D"/>
                </a:solidFill>
                <a:latin typeface="Microsoft YaHei"/>
              </a:defRPr>
            </a:pPr>
            <a:r>
              <a:t>❌  方案一：写规则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"如果尖耳朵、圆眼睛、长胡须 → 是猫"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猫会趴着、仰着、藏在盒子里……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用死板规则穷尽所有可能性 → 此路不通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3108960" cy="27432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💡  方案二：找一个映射器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2316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给一个黑箱：输入 300万个像素值 → 输出 猫的概率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数学上，这种映射关系就叫函数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但猫识别函数不可能靠人手写出来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828800"/>
            <a:ext cx="3108960" cy="27432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🎯  最终答案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42316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搭建一个极其灵活的函数毛坯（神经网络）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用大量标注好的猫照片反复"打磨"它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每看一张图，毛坯自我调整一点 → 最终长成猫识别器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029200"/>
            <a:ext cx="9966960" cy="731520"/>
          </a:xfrm>
          <a:prstGeom prst="rect">
            <a:avLst/>
          </a:prstGeom>
          <a:solidFill>
            <a:srgbClr val="E8F0FE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0"/>
              </a:spcAft>
              <a:defRPr sz="1700" b="1">
                <a:solidFill>
                  <a:srgbClr val="256DEB"/>
                </a:solidFill>
                <a:latin typeface="Microsoft YaHei"/>
              </a:defRPr>
            </a:pPr>
            <a:r>
              <a:t>核心思想：让计算机自己把函数"造"出来 —— 不是编程，是训练。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1.1  线性函数：最简单的起点，最深的瓶颈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最基本的单元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Microsoft YaHei"/>
              </a:defRPr>
            </a:pPr>
            <a:r>
              <a:t>y  =  w x  + 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w — 权重：控制影响力的大小和方向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b — 偏置：让直线可以上下平移</a:t>
            </a:r>
          </a:p>
          <a:p>
            <a:pPr>
              <a:spcAft>
                <a:spcPts val="42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推广到300万像素： y = Σ wᵢxᵢ + b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754880" cy="25603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几何意义：超平面"一刀切"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线性可分（理想）：●●●  |  ○○○  ← 一刀清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线性不可分（现实）：●○●  |  ○●○  ← 任何直线都切错！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只有两个自由度（w和b），无法表达猫的复杂视觉模式。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846320"/>
            <a:ext cx="9966960" cy="731520"/>
          </a:xfrm>
          <a:prstGeom prst="rect">
            <a:avLst/>
          </a:prstGeom>
          <a:solidFill>
            <a:srgbClr val="FDEDEC"/>
          </a:solidFill>
          <a:ln w="6350">
            <a:solidFill>
              <a:srgbClr val="E03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E03E2D"/>
                </a:solidFill>
                <a:latin typeface="Microsoft YaHei"/>
              </a:defRPr>
            </a:pPr>
            <a:r>
              <a:t>单层线性函数，表达能力太弱。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多叠几层行不行？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DEB"/>
                </a:solidFill>
                <a:latin typeface="Microsoft YaHei"/>
              </a:defRPr>
            </a:pPr>
            <a:r>
              <a:t>代数证明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第一层（n个线性函数并行）：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h₁ = w₁₁x₁ + w₁₂x₂ + … + b₁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h₂ = w₂₁x₁ + w₂₂x₂ + … + b₂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...</a:t>
            </a:r>
          </a:p>
          <a:p>
            <a:pPr>
              <a:spcAft>
                <a:spcPts val="18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第二层（加权组合）：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y = v₁h₁ + v₂h₂ + … + vₙhₙ + c</a:t>
            </a:r>
          </a:p>
          <a:p>
            <a:pPr>
              <a:spcAft>
                <a:spcPts val="18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展开合并同类项后：</a:t>
            </a:r>
          </a:p>
          <a:p>
            <a:pPr>
              <a:spcAft>
                <a:spcPts val="510"/>
              </a:spcAft>
              <a:defRPr sz="1700" b="0">
                <a:solidFill>
                  <a:srgbClr val="E03E2D"/>
                </a:solidFill>
                <a:latin typeface="Microsoft YaHei"/>
              </a:defRPr>
            </a:pPr>
            <a:r>
              <a:t>y = w'₁x₁ + w'₂x₂ + … + b'  ← 依然是线性！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737360"/>
            <a:ext cx="457200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矩阵形式更简洁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3172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y = W₂(W₁x + b₁) + b₂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  = (W₂W₁)x + (W₂b₁ + b₂)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  = W'x + b'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两个矩阵相乘 → 还是一个矩阵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无论叠多少层 → 等效单层线性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846320"/>
            <a:ext cx="9966960" cy="914400"/>
          </a:xfrm>
          <a:prstGeom prst="rect">
            <a:avLst/>
          </a:prstGeom>
          <a:solidFill>
            <a:srgbClr val="FDEDEC"/>
          </a:solidFill>
          <a:ln w="6350">
            <a:solidFill>
              <a:srgbClr val="E03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92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 b="1">
                <a:solidFill>
                  <a:srgbClr val="E03E2D"/>
                </a:solidFill>
                <a:latin typeface="Microsoft YaHei"/>
              </a:defRPr>
            </a:pPr>
            <a:r>
              <a:t>堆叠解决不了问题。线性 + 线性 = 线性。</a:t>
            </a:r>
          </a:p>
          <a:p>
            <a:pPr>
              <a:spcAft>
                <a:spcPts val="540"/>
              </a:spcAft>
              <a:defRPr sz="1800" b="1">
                <a:solidFill>
                  <a:srgbClr val="E03E2D"/>
                </a:solidFill>
                <a:latin typeface="Microsoft YaHei"/>
              </a:defRPr>
            </a:pPr>
            <a:r>
              <a:t>我们需要的是 —— 非线性。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2.  激活函数：打破线性魔咒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3200400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ReLU — 当今标配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2651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ReLU(z) = max(0, z)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z &gt; 0 → 原样通过（导数=1）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z ≤ 0 → 一刀截断（导数=0）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✅ 正区间导数恒为1，永不衰减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✅ 计算极其廉价（一次比较）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⚠️ 死亡神经元风险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3200400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3E2D"/>
                </a:solidFill>
                <a:latin typeface="Microsoft YaHei"/>
              </a:defRPr>
            </a:pPr>
            <a:r>
              <a:t>Sigmoid / Tanh — 曾经的王者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331720"/>
            <a:ext cx="2651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σ(z) = 1 / (1 + e⁻ᶻ)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tanh(z) = (eᶻ − e⁻ᶻ)/(eᶻ + e⁻ᶻ)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输出平滑、有界、连续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❌ 饱和区导数≈0 → 梯度消失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❌ 深度网络中浅层无法训练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200400" cy="4114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DEB"/>
                </a:solidFill>
                <a:latin typeface="Microsoft YaHei"/>
              </a:defRPr>
            </a:pPr>
            <a:r>
              <a:t>为什么 ReLU 胜出？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651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Sigmoid 导数最大值：0.25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50层：0.25⁵⁰ ≈ 10⁻³¹ ≈ 0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ReLU 导数（正区间）：恒为 1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50层：依然为 1！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→ 梯度直达，深层也能训练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简单 打败了 优雅。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万能逼近定理：用"小山丘"拼出任意函数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直觉：两个 ReLU → 一个三角山丘 → 足够多的山丘 → 逼近任意连续曲线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286000"/>
            <a:ext cx="59436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山丘的构造（三个 ReLU 配合）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f(x) = ReLU(x+1) + ReLU(x-1) − 2·ReLU(x)</a:t>
            </a:r>
          </a:p>
          <a:p>
            <a:pPr>
              <a:spcAft>
                <a:spcPts val="480"/>
              </a:spcAft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x &lt; −1 → 0    |   −1 ≤ x &lt; 0 → 上升    |   0 ≤ x &lt; 1 → 下降    |   x ≥ 1 → 0</a:t>
            </a:r>
          </a:p>
          <a:p>
            <a:pPr>
              <a:spcAft>
                <a:spcPts val="480"/>
              </a:spcAft>
              <a:defRPr sz="1600" b="0">
                <a:solidFill>
                  <a:srgbClr val="1A1A1A"/>
                </a:solidFill>
                <a:latin typeface="Microsoft YaHei"/>
              </a:defRPr>
            </a:pPr>
            <a:r>
              <a:t>调整 ReLU 的权重和拐点 → 控制山丘的位置、宽度、高度、形状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480560"/>
            <a:ext cx="594360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DEB"/>
                </a:solidFill>
                <a:latin typeface="Microsoft YaHei"/>
              </a:defRPr>
            </a:pPr>
            <a:r>
              <a:t>📐  万能逼近定理（Cybenko, 1989）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74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一个隐藏层，神经元足够多 → 以任意精度逼近紧致集上的任意连续函数。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定理保证"存在"这样的网络，但没说"怎么找到"——梯度下降解决后者。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深度带来效率（而非表达能力）：浅层已经万能，但深度让表达变得经济。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286000"/>
            <a:ext cx="365760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39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类比：傅里叶级数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399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傅里叶：不同频率的正弦波拼出周期函数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神经网络：不同位置的 ReLU 山丘拼出任意函数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正弦波是全局的 → ReLU 山丘是局部的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→ 对局部特征更灵活！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3.  全连接层：从神经元到网络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规则：前一层的每一个神经元 → 连接 → 后一层的每一个神经元，每条连接有一个可学习权重。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a⁽ˡ⁺¹⁾  =  ReLU( W⁽ˡ⁾ a⁽ˡ⁾  +  b⁽ˡ⁾ 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91840"/>
            <a:ext cx="9966960" cy="1645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DEB"/>
                </a:solidFill>
                <a:latin typeface="Microsoft YaHei"/>
              </a:defRPr>
            </a:pPr>
            <a:r>
              <a:t>矩阵乘法  W·a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信息的混合与重组</a:t>
            </a:r>
            <a:br/>
            <a:r>
              <a:t>每个后层神经元从前层所有信号中</a:t>
            </a:r>
            <a:br/>
            <a:r>
              <a:t>提取自己关心的那部分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DEB"/>
                </a:solidFill>
                <a:latin typeface="Microsoft YaHei"/>
              </a:defRPr>
            </a:pPr>
            <a:r>
              <a:t>加偏置  +b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阈值的平移</a:t>
            </a:r>
            <a:br/>
            <a:r>
              <a:t>即使前层输出全为零</a:t>
            </a:r>
            <a:br/>
            <a:r>
              <a:t>后层神经元仍有基线激活水平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DEB"/>
                </a:solidFill>
                <a:latin typeface="Microsoft YaHei"/>
              </a:defRPr>
            </a:pPr>
            <a:r>
              <a:t>激活函数  ReLU(·)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引入转折</a:t>
            </a:r>
            <a:br/>
            <a:r>
              <a:t>打破线性，让多层叠加有意义</a:t>
            </a:r>
            <a:br/>
            <a:r>
              <a:t>（第2节的核心结论）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数据流：输入(300万像素) → 隐藏层1(边缘/纹理) → 隐藏层2(轮廓) → 隐藏层3(部件) → 输出(猫的概率)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4.  损失函数 × 梯度下降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31089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回归 → MSE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L = (1/m) Σ (ŷᵢ − yᵢ)²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衡量预测值与真实值的欧几里得距离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高斯噪声假设下的最大似然自然产物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31089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分类 → 交叉熵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3317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L = −[y·log(ŷ) + (1−y)·log(1−ŷ)]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y=1时 L=−log(ŷ)：预测越错惩罚越大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确信错误 → 指数级惩罚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108960" cy="22860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Sigmoid + CE = 绝配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∂L/∂z = ŷ − y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干净利落！没有饱和因子。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ŷ=0.99 但 y=0 → 梯度=0.99 信号极强！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MSE+Sigmoid 则 → 梯度消失 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389120"/>
            <a:ext cx="996696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DEB"/>
                </a:solidFill>
                <a:latin typeface="Microsoft YaHei"/>
              </a:defRPr>
            </a:pPr>
            <a:r>
              <a:t>梯度下降   w ← w − η·∇L     |    学习率η：太小→收敛慢，太大→震荡发散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83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随机梯度下降(SGD)：每次一个样本，噪声帮助跳出局部陷阱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Mini-batch SGD：小批量求平均 → 标准的训练方式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Momentum：累积速度惯性 → 加速通过平坦区，抑制震荡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Adam：动量 + 自适应学习率 → 目前最广泛使用的优化器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5.  反向传播：链式法则的一次系统性传递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问题：百万个参数，逐一算偏导数需要百万次前向传播 → 计算爆炸。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∂L/∂w  =  ∂L/∂ŷ   ·   ∂ŷ/∂z   ·   ∂z/∂w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       损失对输出     ×   激活函数导数   ×   这一层的输入</a:t>
            </a:r>
          </a:p>
          <a:p>
            <a:pPr>
              <a:spcAft>
                <a:spcPts val="42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       "错得多离谱"       "局部敏感度"       "这个权重被用了多少"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14800"/>
            <a:ext cx="310896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DEB"/>
                </a:solidFill>
                <a:latin typeface="Microsoft YaHei"/>
              </a:defRPr>
            </a:pPr>
            <a:r>
              <a:t>O(n) 而非 O(n²)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09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一次前向缓存中间值 + 一次反向传播误差信号 → 所有参数梯度一次性算出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114800"/>
            <a:ext cx="310896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DEB"/>
                </a:solidFill>
                <a:latin typeface="Microsoft YaHei"/>
              </a:defRPr>
            </a:pPr>
            <a:r>
              <a:t>优美的镜像对称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709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前向时数据流经 W，反向时误差流经 Wᵀ —— 每一步都是前向的"镜像"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4114800"/>
            <a:ext cx="3108960" cy="18288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DEB"/>
                </a:solidFill>
                <a:latin typeface="Microsoft YaHei"/>
              </a:defRPr>
            </a:pPr>
            <a:r>
              <a:t>动态规划思想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4709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中间梯度 ∂L/∂z 只算一次，被后续所有参数梯度计算复用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6.  梯度消失：为什么深度曾是奢侈品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5029200" cy="3657600"/>
          </a:xfrm>
          <a:prstGeom prst="rect">
            <a:avLst/>
          </a:prstGeom>
          <a:solidFill>
            <a:srgbClr val="FDEDEC"/>
          </a:solidFill>
          <a:ln w="6350">
            <a:solidFill>
              <a:srgbClr val="E03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3E2D"/>
                </a:solidFill>
                <a:latin typeface="Microsoft YaHei"/>
              </a:defRPr>
            </a:pPr>
            <a:r>
              <a:t>Sigmoid 的致命缺陷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0"/>
              </a:spcAft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Sigmoid导数：σ'(z) = σ(z)(1−σ(z))</a:t>
            </a:r>
          </a:p>
          <a:p>
            <a:pPr>
              <a:spcAft>
                <a:spcPts val="480"/>
              </a:spcAft>
              <a:defRPr sz="1600" b="0">
                <a:solidFill>
                  <a:srgbClr val="E03E2D"/>
                </a:solidFill>
                <a:latin typeface="Microsoft YaHei"/>
              </a:defRPr>
            </a:pPr>
            <a:r>
              <a:t>最大值仅 0.25（当 σ(z)=0.5 时）</a:t>
            </a:r>
          </a:p>
          <a:p>
            <a:pPr>
              <a:spcAft>
                <a:spcPts val="240"/>
              </a:spcAft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50层网络 × 每层 ≤0.25：</a:t>
            </a:r>
          </a:p>
          <a:p>
            <a:pPr>
              <a:spcAft>
                <a:spcPts val="840"/>
              </a:spcAft>
              <a:defRPr sz="2800" b="0">
                <a:solidFill>
                  <a:srgbClr val="E03E2D"/>
                </a:solidFill>
                <a:latin typeface="Microsoft YaHei"/>
              </a:defRPr>
            </a:pPr>
            <a:r>
              <a:t>梯度衰减为  0.25⁵⁰ ≈ 7.9×10⁻³¹</a:t>
            </a:r>
          </a:p>
          <a:p>
            <a:pPr>
              <a:spcAft>
                <a:spcPts val="240"/>
              </a:spcAft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E03E2D"/>
                </a:solidFill>
                <a:latin typeface="Microsoft YaHei"/>
              </a:defRPr>
            </a:pPr>
            <a:r>
              <a:t>→ 浅层权重几乎不更新 → 深度白费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737360"/>
            <a:ext cx="4572000" cy="3657600"/>
          </a:xfrm>
          <a:prstGeom prst="rect">
            <a:avLst/>
          </a:prstGeom>
          <a:solidFill>
            <a:srgbClr val="E8F5E9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Microsoft YaHei"/>
              </a:defRPr>
            </a:pPr>
            <a:r>
              <a:t>ReLU 如何改变局面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46888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0"/>
              </a:spcAft>
              <a:defRPr sz="1700" b="0">
                <a:solidFill>
                  <a:srgbClr val="1A1A1A"/>
                </a:solidFill>
                <a:latin typeface="Microsoft YaHei"/>
              </a:defRPr>
            </a:pPr>
            <a:r>
              <a:t>ReLU'(z) = 1 (z&gt;0) 或 0 (z≤0)</a:t>
            </a:r>
          </a:p>
          <a:p>
            <a:pPr>
              <a:spcAft>
                <a:spcPts val="480"/>
              </a:spcAft>
              <a:defRPr sz="1600" b="0">
                <a:solidFill>
                  <a:srgbClr val="16A34A"/>
                </a:solidFill>
                <a:latin typeface="Microsoft YaHei"/>
              </a:defRPr>
            </a:pPr>
            <a:r>
              <a:t>正区间导数恒为 1，不衰减！</a:t>
            </a:r>
          </a:p>
          <a:p>
            <a:pPr>
              <a:spcAft>
                <a:spcPts val="240"/>
              </a:spcAft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50层 → 只要神经元激活 → 梯度直达</a:t>
            </a:r>
          </a:p>
          <a:p>
            <a:pPr>
              <a:spcAft>
                <a:spcPts val="240"/>
              </a:spcAft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⚠️ 代价：死亡神经元</a:t>
            </a:r>
          </a:p>
          <a:p>
            <a:pPr>
              <a:spcAft>
                <a:spcPts val="39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（z始终≤0 → 梯度=0 → 永不更新）</a:t>
            </a:r>
          </a:p>
          <a:p>
            <a:pPr>
              <a:spcAft>
                <a:spcPts val="42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→ Leaky ReLU/ELU/GELU 缓解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7.  过拟合与泛化：学习的目标不是记住，是理解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3108960" cy="1645920"/>
          </a:xfrm>
          <a:prstGeom prst="rect">
            <a:avLst/>
          </a:prstGeom>
          <a:solidFill>
            <a:srgbClr val="E8F0FE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DEB"/>
                </a:solidFill>
                <a:latin typeface="Microsoft YaHei"/>
              </a:defRPr>
            </a:pPr>
            <a:r>
              <a:t>欠拟合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模型太简单</a:t>
            </a:r>
            <a:br/>
            <a:r>
              <a:t>连训练数据中的</a:t>
            </a:r>
            <a:br/>
            <a:r>
              <a:t>模式都学不到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3108960" cy="1645920"/>
          </a:xfrm>
          <a:prstGeom prst="rect">
            <a:avLst/>
          </a:prstGeom>
          <a:solidFill>
            <a:srgbClr val="E8F5E9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34A"/>
                </a:solidFill>
                <a:latin typeface="Microsoft YaHei"/>
              </a:defRPr>
            </a:pPr>
            <a:r>
              <a:t>适度拟合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找到数据中的</a:t>
            </a:r>
            <a:br/>
            <a:r>
              <a:t>真实规律</a:t>
            </a:r>
            <a:br/>
            <a:r>
              <a:t>泛化到新数据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737360"/>
            <a:ext cx="3108960" cy="1645920"/>
          </a:xfrm>
          <a:prstGeom prst="rect">
            <a:avLst/>
          </a:prstGeom>
          <a:solidFill>
            <a:srgbClr val="FDEDEC"/>
          </a:solidFill>
          <a:ln w="6350">
            <a:solidFill>
              <a:srgbClr val="E03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3E2D"/>
                </a:solidFill>
                <a:latin typeface="Microsoft YaHei"/>
              </a:defRPr>
            </a:pPr>
            <a:r>
              <a:t>过拟合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网络太强</a:t>
            </a:r>
            <a:br/>
            <a:r>
              <a:t>背下所有细节</a:t>
            </a:r>
            <a:br/>
            <a:r>
              <a:t>包括噪音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Microsoft YaHei"/>
              </a:defRPr>
            </a:pPr>
            <a:r>
              <a:t>对抗过拟合的四件套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389120"/>
            <a:ext cx="233172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DEB"/>
                </a:solidFill>
                <a:latin typeface="Microsoft YaHei"/>
              </a:defRPr>
            </a:pPr>
            <a:r>
              <a:t>🛑  早停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834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验证集损失不再下降</a:t>
            </a:r>
            <a:br/>
            <a:r>
              <a:t>→ 立刻停止训练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4389120"/>
            <a:ext cx="233172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4572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🏋️  L2 正则化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49834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损失函数加 λ·Σw²</a:t>
            </a:r>
            <a:br/>
            <a:r>
              <a:t>惩罚过大的权重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389120"/>
            <a:ext cx="233172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572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Microsoft YaHei"/>
              </a:defRPr>
            </a:pPr>
            <a:r>
              <a:t>🎲  Dropout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834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每批随机关掉50%神经元</a:t>
            </a:r>
            <a:br/>
            <a:r>
              <a:t>强迫独立学习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4389120"/>
            <a:ext cx="233172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4572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3E2D"/>
                </a:solidFill>
                <a:latin typeface="Microsoft YaHei"/>
              </a:defRPr>
            </a:pPr>
            <a:r>
              <a:t>🔄  数据增强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9834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随机旋转/裁剪/翻转</a:t>
            </a:r>
            <a:br/>
            <a:r>
              <a:t>人为扩充数据多样性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t>全景回顾：8步因果链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18288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920240"/>
            <a:ext cx="411480" cy="41148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385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3852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385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规则写不出来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3852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D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56DEB"/>
                </a:solidFill>
                <a:latin typeface="Microsoft YaHei"/>
              </a:defRPr>
            </a:pPr>
            <a:r>
              <a:t>找函数映射器：300万像素 → 猫的概率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468880"/>
            <a:ext cx="411480" cy="41148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87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8716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487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单层线性一刀切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48716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D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487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56DEB"/>
                </a:solidFill>
                <a:latin typeface="Microsoft YaHei"/>
              </a:defRPr>
            </a:pPr>
            <a:r>
              <a:t>堆叠多层。但线性+线性=线性，堆叠无效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017520"/>
            <a:ext cx="411480" cy="41148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0358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0358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线性堆叠失败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0358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D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358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56DEB"/>
                </a:solidFill>
                <a:latin typeface="Microsoft YaHei"/>
              </a:defRPr>
            </a:pPr>
            <a:r>
              <a:t>插入 ReLU：导数恒为1，打破梯度消失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566160"/>
            <a:ext cx="411480" cy="41148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84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5844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584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定理保证能逼近任意函数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58444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D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56DEB"/>
                </a:solidFill>
                <a:latin typeface="Microsoft YaHei"/>
              </a:defRPr>
            </a:pPr>
            <a:r>
              <a:t>全连接层 + 矩阵乘法系统化组织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114800"/>
            <a:ext cx="411480" cy="41148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1330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13308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1330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随机参数毫无用处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13308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D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133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56DEB"/>
                </a:solidFill>
                <a:latin typeface="Microsoft YaHei"/>
              </a:defRPr>
            </a:pPr>
            <a:r>
              <a:t>交叉熵损失 + 梯度下降 + Adam 优化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4663440"/>
            <a:ext cx="411480" cy="41148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46817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68172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6817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百万参数逐个算梯度不可能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68172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D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681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56DEB"/>
                </a:solidFill>
                <a:latin typeface="Microsoft YaHei"/>
              </a:defRPr>
            </a:pPr>
            <a:r>
              <a:t>反向传播：链式法则一次算完 O(n)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5212079"/>
            <a:ext cx="411480" cy="41148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2303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230367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5230367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深层网络梯度消失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230367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D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23036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56DEB"/>
                </a:solidFill>
                <a:latin typeface="Microsoft YaHei"/>
              </a:defRPr>
            </a:pPr>
            <a:r>
              <a:t>ReLU 替代 Sigmoid：导数恒为1让50层训练成为可能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760720"/>
            <a:ext cx="411480" cy="41148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7790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5920" y="57790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5779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训练集全对、测试集全错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577900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56D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779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56DEB"/>
                </a:solidFill>
                <a:latin typeface="Microsoft YaHei"/>
              </a:defRPr>
            </a:pPr>
            <a:r>
              <a:t>早停 + L2 + Dropout + 数据增强 → 对抗过拟合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7280" y="6400800"/>
            <a:ext cx="9966960" cy="27432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1A1A1A"/>
                </a:solidFill>
                <a:latin typeface="Microsoft YaHei"/>
              </a:defRPr>
            </a:pPr>
            <a:r>
              <a:t>它不是魔法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Microsoft YaHei"/>
              </a:defRPr>
            </a:pPr>
            <a:r>
              <a:t>是数学、算法和工程在每一个瓶颈面前的精密协作。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743200" cy="381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从 y=wx+b 到能识别猫的深度网络——</a:t>
            </a:r>
          </a:p>
          <a:p>
            <a:pPr>
              <a:spcAft>
                <a:spcPts val="540"/>
              </a:spcAft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不是被编程的程序，而是从数据中自动生长出来的复合函数。</a:t>
            </a:r>
          </a:p>
          <a:p>
            <a:pPr>
              <a:spcAft>
                <a:spcPts val="48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最终得到的不是一个规则系统，而是一个学会了"理解"的数学结构。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